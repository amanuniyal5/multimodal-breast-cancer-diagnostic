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7485344e-db19-6f03-9ffa-29392b951135}">
          <p14:sldIdLst>
            <p14:sldId id="256"/>
          </p14:sldIdLst>
        </p14:section>
        <p14:section name="Week 1: proposal and baselines" id="{0197713a-9ce2-8e9f-8566-51c479f234dc}">
          <p14:sldIdLst>
            <p14:sldId id="257"/>
            <p14:sldId id="258"/>
            <p14:sldId id="259"/>
          </p14:sldIdLst>
        </p14:section>
        <p14:section name="Week 2: updates" id="{0529ad5a-0bb9-e183-6db2-109bc4bdf57e}">
          <p14:sldIdLst>
            <p14:sldId id="260"/>
            <p14:sldId id="261"/>
            <p14:sldId id="262"/>
          </p14:sldIdLst>
        </p14:section>
        <p14:section name="Week 3 plan" id="{5c4c97bf-7915-f619-076d-ccbd32c6a6cd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D2B6B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3D2B6B"/>
                </a:solidFill>
                <a:latin typeface="+mn-lt"/>
              </a:rPr>
              <a:t>1a  ER: AUC by reference label (n = 801)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IHC label</c:v>
                </c:pt>
              </c:strCache>
            </c:strRef>
          </c:tx>
          <c:spPr>
            <a:solidFill>
              <a:srgbClr val="C77C0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TITAN</c:v>
                  </c:pt>
                  <c:pt idx="1">
                    <c:v>UNI v1</c:v>
                  </c:pt>
                  <c:pt idx="2">
                    <c:v>CONCH v1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</c:v>
                </c:pt>
                <c:pt idx="1">
                  <c:v>0.87</c:v>
                </c:pt>
                <c:pt idx="2">
                  <c:v>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RNA label</c:v>
                </c:pt>
              </c:strCache>
            </c:strRef>
          </c:tx>
          <c:spPr>
            <a:solidFill>
              <a:srgbClr val="1F8A7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TITAN</c:v>
                  </c:pt>
                  <c:pt idx="1">
                    <c:v>UNI v1</c:v>
                  </c:pt>
                  <c:pt idx="2">
                    <c:v>CONCH v1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</c:v>
                </c:pt>
                <c:pt idx="1">
                  <c:v>0.91</c:v>
                </c:pt>
                <c:pt idx="2">
                  <c:v>0.87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6E1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D2B6B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3D2B6B"/>
                </a:solidFill>
                <a:latin typeface="+mn-lt"/>
              </a:rPr>
              <a:t>PR: ΔAUC (RNA − IHC label) by RNA cut-off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GMM RNA cut-off</c:v>
                </c:pt>
              </c:strCache>
            </c:strRef>
          </c:tx>
          <c:spPr>
            <a:solidFill>
              <a:srgbClr val="8C7AA8"/>
            </a:solidFill>
            <a:effectLst/>
          </c:spPr>
          <c:invertIfNegative val="0"/>
          <c:dLbls>
            <c:numFmt formatCode="+0.00;-0.00;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TITAN</c:v>
                  </c:pt>
                  <c:pt idx="1">
                    <c:v>UNI mean</c:v>
                  </c:pt>
                  <c:pt idx="2">
                    <c:v>CONCH mean</c:v>
                  </c:pt>
                  <c:pt idx="3">
                    <c:v>UNI ABMIL</c:v>
                  </c:pt>
                  <c:pt idx="4">
                    <c:v>CONCH ABMIL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-0.006</c:v>
                </c:pt>
                <c:pt idx="1">
                  <c:v>-0.047</c:v>
                </c:pt>
                <c:pt idx="2">
                  <c:v>-0.027</c:v>
                </c:pt>
                <c:pt idx="3">
                  <c:v>-0.058</c:v>
                </c:pt>
                <c:pt idx="4">
                  <c:v>-0.029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Prevalence-matched cut-off</c:v>
                </c:pt>
              </c:strCache>
            </c:strRef>
          </c:tx>
          <c:spPr>
            <a:solidFill>
              <a:srgbClr val="1F8A7E"/>
            </a:solidFill>
            <a:effectLst/>
          </c:spPr>
          <c:invertIfNegative val="0"/>
          <c:dLbls>
            <c:numFmt formatCode="+0.00;-0.00;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TITAN</c:v>
                  </c:pt>
                  <c:pt idx="1">
                    <c:v>UNI mean</c:v>
                  </c:pt>
                  <c:pt idx="2">
                    <c:v>CONCH mean</c:v>
                  </c:pt>
                  <c:pt idx="3">
                    <c:v>UNI ABMIL</c:v>
                  </c:pt>
                  <c:pt idx="4">
                    <c:v>CONCH ABMIL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0.033</c:v>
                </c:pt>
                <c:pt idx="1">
                  <c:v>-0.008</c:v>
                </c:pt>
                <c:pt idx="2">
                  <c:v>0.01</c:v>
                </c:pt>
                <c:pt idx="3">
                  <c:v>-0.006</c:v>
                </c:pt>
                <c:pt idx="4">
                  <c:v>0.011</c:v>
                </c:pt>
              </c:numCache>
            </c:numRef>
          </c:val>
        </c:ser>
        <c:dLbls>
          <c:numFmt formatCode="+0.00;-0.00;0.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"/>
          <c:min val="-0.08"/>
        </c:scaling>
        <c:delete val="0"/>
        <c:axPos val="l"/>
        <c:majorGridlines>
          <c:spPr>
            <a:ln w="6350" cap="flat">
              <a:solidFill>
                <a:srgbClr val="E6E1EE"/>
              </a:solidFill>
              <a:prstDash val="solid"/>
              <a:round/>
            </a:ln>
          </c:spPr>
        </c:majorGridlines>
        <c:numFmt formatCode="+0.00;-0.00;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slides were not presented, so this deck covers Week 1 (proposal, data, first baselines) and the Week 2 updates, ending with the Week 3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Novelty is the evaluation, not a new architecture: same patients, slides and folds, evaluated against different reference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Discordance is a minority of patients, which is why the paired, same-patient design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Week 1 numbers as first computed. The PR result is revisited in Week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plan items: finish ABMIL; test the PR RNA cut-off before interpreting the reversal. The apparent PR 'IHC preference' disappears with a prevalence-matched cut-off in all five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plan items: ER-low vs ER-high discordant cases; attention maps on discordant cases. The ER RNA preference is driven by ER-low tumours, which the model reads as ER-negative; HER2-enriched tumours are the exception.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logistics: fixed CV splits; UNI weights access; download + encode the frozen slides. Week 1 plan: start frozen slides for 1c and 1e. Features are ready; the 1c/1e analyses are Week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listed under Next is Week 3 work; Week 2 delivered all items planned in Week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72237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365760" y="482803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Which Truth Does the Slide See?  ·  TCGA-BRCA  ·  Uniyal &amp; Srivastava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2803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2803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Which Truth Does the Slide See?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Auditing what pathology foundation models learn when IHC, RNA and protein disagree</a:t>
            </a:r>
            <a:endParaRPr lang="en-US" sz="1700" dirty="0"/>
          </a:p>
        </p:txBody>
      </p:sp>
      <p:sp>
        <p:nvSpPr>
          <p:cNvPr id="4" name="title_tag"/>
          <p:cNvSpPr/>
          <p:nvPr/>
        </p:nvSpPr>
        <p:spPr>
          <a:xfrm>
            <a:off x="548640" y="50292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itle_tag_text"/>
          <p:cNvSpPr txBox="1"/>
          <p:nvPr/>
        </p:nvSpPr>
        <p:spPr>
          <a:xfrm>
            <a:off x="54864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Project update  ·  Week 1 + Week 2</a:t>
            </a:r>
            <a:endParaRPr lang="en-US" sz="1300" dirty="0"/>
          </a:p>
        </p:txBody>
      </p:sp>
      <p:sp>
        <p:nvSpPr>
          <p:cNvPr id="6" name="title_authors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Aman Uniyal  ·  Aman Srivastava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Topics in AI for Healthcare, IIIT Hyderabad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Base project: Kamineni – Multimodal Breast Cancer Diagnostic &amp; Outcome Assistant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Proposal: problem, question and pipeline</a:t>
            </a:r>
            <a:endParaRPr lang="en-US" sz="2400" dirty="0"/>
          </a:p>
        </p:txBody>
      </p:sp>
      <p:sp>
        <p:nvSpPr>
          <p:cNvPr id="3" name="week_tag_1"/>
          <p:cNvSpPr/>
          <p:nvPr/>
        </p:nvSpPr>
        <p:spPr>
          <a:xfrm>
            <a:off x="7726680" y="301752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week_tag_text_2"/>
          <p:cNvSpPr txBox="1"/>
          <p:nvPr/>
        </p:nvSpPr>
        <p:spPr>
          <a:xfrm>
            <a:off x="7726680" y="3017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WEEK 1</a:t>
            </a:r>
            <a:endParaRPr lang="en-US" sz="1050" dirty="0"/>
          </a:p>
        </p:txBody>
      </p:sp>
      <p:sp>
        <p:nvSpPr>
          <p:cNvPr id="5" name="card_3"/>
          <p:cNvSpPr/>
          <p:nvPr/>
        </p:nvSpPr>
        <p:spPr>
          <a:xfrm>
            <a:off x="365760" y="914400"/>
            <a:ext cx="4160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card_dot_4"/>
          <p:cNvSpPr/>
          <p:nvPr/>
        </p:nvSpPr>
        <p:spPr>
          <a:xfrm>
            <a:off x="493776" y="1033272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card_title_5"/>
          <p:cNvSpPr txBox="1"/>
          <p:nvPr/>
        </p:nvSpPr>
        <p:spPr>
          <a:xfrm>
            <a:off x="749808" y="978408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Clinical problem</a:t>
            </a:r>
            <a:endParaRPr lang="en-US" sz="1300" dirty="0"/>
          </a:p>
        </p:txBody>
      </p:sp>
      <p:sp>
        <p:nvSpPr>
          <p:cNvPr id="8" name="card_body_6"/>
          <p:cNvSpPr txBox="1"/>
          <p:nvPr/>
        </p:nvSpPr>
        <p:spPr>
          <a:xfrm>
            <a:off x="475488" y="1298448"/>
            <a:ext cx="3959352" cy="96012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ER/PR/HER2 status drives therapy and is measured by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accent4"/>
                </a:solidFill>
              </a:rPr>
              <a:t>IHC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IHC often disagrees with mRNA; for HER2 0 vs 1+ pathologists agree in only ~26% of cases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H&amp;E models learn whatever label they get: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which biological truth do they track?</a:t>
            </a:r>
            <a:endParaRPr lang="en-US" sz="1150" dirty="0"/>
          </a:p>
        </p:txBody>
      </p:sp>
      <p:sp>
        <p:nvSpPr>
          <p:cNvPr id="9" name="card_7"/>
          <p:cNvSpPr/>
          <p:nvPr/>
        </p:nvSpPr>
        <p:spPr>
          <a:xfrm>
            <a:off x="365760" y="2423160"/>
            <a:ext cx="4160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card_dot_8"/>
          <p:cNvSpPr/>
          <p:nvPr/>
        </p:nvSpPr>
        <p:spPr>
          <a:xfrm>
            <a:off x="493776" y="2542032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ard_title_9"/>
          <p:cNvSpPr txBox="1"/>
          <p:nvPr/>
        </p:nvSpPr>
        <p:spPr>
          <a:xfrm>
            <a:off x="749808" y="2487168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Research question</a:t>
            </a:r>
            <a:endParaRPr lang="en-US" sz="1300" dirty="0"/>
          </a:p>
        </p:txBody>
      </p:sp>
      <p:sp>
        <p:nvSpPr>
          <p:cNvPr id="12" name="card_body_10"/>
          <p:cNvSpPr txBox="1"/>
          <p:nvPr/>
        </p:nvSpPr>
        <p:spPr>
          <a:xfrm>
            <a:off x="475488" y="2807208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When IHC, RNA and protein disagree, which one does an H&amp;E foundation model follow, and does it depend on the slide type?</a:t>
            </a:r>
            <a:endParaRPr lang="en-US" sz="1150" dirty="0"/>
          </a:p>
        </p:txBody>
      </p:sp>
      <p:sp>
        <p:nvSpPr>
          <p:cNvPr id="13" name="card_11"/>
          <p:cNvSpPr/>
          <p:nvPr/>
        </p:nvSpPr>
        <p:spPr>
          <a:xfrm>
            <a:off x="4663440" y="914400"/>
            <a:ext cx="411480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card_dot_12"/>
          <p:cNvSpPr/>
          <p:nvPr/>
        </p:nvSpPr>
        <p:spPr>
          <a:xfrm>
            <a:off x="4791456" y="1033272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rd_title_13"/>
          <p:cNvSpPr txBox="1"/>
          <p:nvPr/>
        </p:nvSpPr>
        <p:spPr>
          <a:xfrm>
            <a:off x="5047488" y="978408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Five experiments</a:t>
            </a:r>
            <a:endParaRPr lang="en-US" sz="1300" dirty="0"/>
          </a:p>
        </p:txBody>
      </p:sp>
      <p:sp>
        <p:nvSpPr>
          <p:cNvPr id="16" name="card_body_14"/>
          <p:cNvSpPr txBox="1"/>
          <p:nvPr/>
        </p:nvSpPr>
        <p:spPr>
          <a:xfrm>
            <a:off x="4773168" y="1298448"/>
            <a:ext cx="3913632" cy="196596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1a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Is the IHC or the RNA label more predictable?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1b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On discordant cases, which side does the model take?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1c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Does it change from FFPE to frozen slides?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1d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Is HER2 0 vs 1+ visible in H&amp;E at all?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1e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 two frozen slides of one tumour agree?</a:t>
            </a:r>
            <a:endParaRPr lang="en-US" sz="1200" dirty="0"/>
          </a:p>
        </p:txBody>
      </p:sp>
      <p:sp>
        <p:nvSpPr>
          <p:cNvPr id="17" name="pipe_box_15"/>
          <p:cNvSpPr/>
          <p:nvPr/>
        </p:nvSpPr>
        <p:spPr>
          <a:xfrm>
            <a:off x="365760" y="3547872"/>
            <a:ext cx="1481328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ipe_text_16"/>
          <p:cNvSpPr txBox="1"/>
          <p:nvPr/>
        </p:nvSpPr>
        <p:spPr>
          <a:xfrm>
            <a:off x="365760" y="3547872"/>
            <a:ext cx="148132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H&amp;E slide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(FFPE / frozen)</a:t>
            </a:r>
            <a:endParaRPr lang="en-US" sz="1050" dirty="0"/>
          </a:p>
        </p:txBody>
      </p:sp>
      <p:sp>
        <p:nvSpPr>
          <p:cNvPr id="19" name="arrow_17"/>
          <p:cNvSpPr/>
          <p:nvPr/>
        </p:nvSpPr>
        <p:spPr>
          <a:xfrm>
            <a:off x="1865376" y="3858768"/>
            <a:ext cx="14630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pipe_box_18"/>
          <p:cNvSpPr/>
          <p:nvPr/>
        </p:nvSpPr>
        <p:spPr>
          <a:xfrm>
            <a:off x="2029968" y="3547872"/>
            <a:ext cx="1481328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ipe_text_19"/>
          <p:cNvSpPr txBox="1"/>
          <p:nvPr/>
        </p:nvSpPr>
        <p:spPr>
          <a:xfrm>
            <a:off x="2029968" y="3547872"/>
            <a:ext cx="148132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Tissue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patches</a:t>
            </a:r>
            <a:endParaRPr lang="en-US" sz="1050" dirty="0"/>
          </a:p>
        </p:txBody>
      </p:sp>
      <p:sp>
        <p:nvSpPr>
          <p:cNvPr id="22" name="arrow_20"/>
          <p:cNvSpPr/>
          <p:nvPr/>
        </p:nvSpPr>
        <p:spPr>
          <a:xfrm>
            <a:off x="3529584" y="3858768"/>
            <a:ext cx="14630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pipe_box_21"/>
          <p:cNvSpPr/>
          <p:nvPr/>
        </p:nvSpPr>
        <p:spPr>
          <a:xfrm>
            <a:off x="3694176" y="3547872"/>
            <a:ext cx="1481328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pipe_text_22"/>
          <p:cNvSpPr txBox="1"/>
          <p:nvPr/>
        </p:nvSpPr>
        <p:spPr>
          <a:xfrm>
            <a:off x="3694176" y="3547872"/>
            <a:ext cx="148132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Frozen encoder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(UNI, CONCH, TITAN)</a:t>
            </a:r>
            <a:endParaRPr lang="en-US" sz="1050" dirty="0"/>
          </a:p>
        </p:txBody>
      </p:sp>
      <p:sp>
        <p:nvSpPr>
          <p:cNvPr id="25" name="arrow_23"/>
          <p:cNvSpPr/>
          <p:nvPr/>
        </p:nvSpPr>
        <p:spPr>
          <a:xfrm>
            <a:off x="5193792" y="3858768"/>
            <a:ext cx="14630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pipe_box_24"/>
          <p:cNvSpPr/>
          <p:nvPr/>
        </p:nvSpPr>
        <p:spPr>
          <a:xfrm>
            <a:off x="5358384" y="3547872"/>
            <a:ext cx="1481328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ipe_text_25"/>
          <p:cNvSpPr txBox="1"/>
          <p:nvPr/>
        </p:nvSpPr>
        <p:spPr>
          <a:xfrm>
            <a:off x="5358384" y="3547872"/>
            <a:ext cx="148132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Slide classifier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(mean-pool, ABMIL)</a:t>
            </a:r>
            <a:endParaRPr lang="en-US" sz="1050" dirty="0"/>
          </a:p>
        </p:txBody>
      </p:sp>
      <p:sp>
        <p:nvSpPr>
          <p:cNvPr id="28" name="arrow_26"/>
          <p:cNvSpPr/>
          <p:nvPr/>
        </p:nvSpPr>
        <p:spPr>
          <a:xfrm>
            <a:off x="6858000" y="3858768"/>
            <a:ext cx="14630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pipe_box_27"/>
          <p:cNvSpPr/>
          <p:nvPr/>
        </p:nvSpPr>
        <p:spPr>
          <a:xfrm>
            <a:off x="7022592" y="3547872"/>
            <a:ext cx="1481328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pipe_text_28"/>
          <p:cNvSpPr txBox="1"/>
          <p:nvPr/>
        </p:nvSpPr>
        <p:spPr>
          <a:xfrm>
            <a:off x="7022592" y="3547872"/>
            <a:ext cx="148132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Compare labels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site-grouped CV</a:t>
            </a:r>
            <a:endParaRPr lang="en-US" sz="1050" dirty="0"/>
          </a:p>
        </p:txBody>
      </p:sp>
      <p:sp>
        <p:nvSpPr>
          <p:cNvPr id="31" name="labels_box"/>
          <p:cNvSpPr/>
          <p:nvPr/>
        </p:nvSpPr>
        <p:spPr>
          <a:xfrm>
            <a:off x="5358384" y="4297680"/>
            <a:ext cx="25603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labels_text"/>
          <p:cNvSpPr txBox="1"/>
          <p:nvPr/>
        </p:nvSpPr>
        <p:spPr>
          <a:xfrm>
            <a:off x="5358384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Labels: </a:t>
            </a:r>
            <a:pPr algn="ctr"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IHC</a:t>
            </a:r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  |  </a:t>
            </a:r>
            <a:pPr algn="ctr"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RNA</a:t>
            </a:r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  |  protein (RPPA)</a:t>
            </a:r>
            <a:endParaRPr lang="en-US" sz="1050" dirty="0"/>
          </a:p>
        </p:txBody>
      </p:sp>
      <p:sp>
        <p:nvSpPr>
          <p:cNvPr id="33" name="arrow_29"/>
          <p:cNvSpPr/>
          <p:nvPr/>
        </p:nvSpPr>
        <p:spPr>
          <a:xfrm flipV="1">
            <a:off x="5989320" y="4187952"/>
            <a:ext cx="0" cy="109728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2803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Dataset: TCGA-BRCA</a:t>
            </a:r>
            <a:endParaRPr lang="en-US" sz="2400" dirty="0"/>
          </a:p>
        </p:txBody>
      </p:sp>
      <p:sp>
        <p:nvSpPr>
          <p:cNvPr id="3" name="week_tag_30"/>
          <p:cNvSpPr/>
          <p:nvPr/>
        </p:nvSpPr>
        <p:spPr>
          <a:xfrm>
            <a:off x="7726680" y="301752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week_tag_text_31"/>
          <p:cNvSpPr txBox="1"/>
          <p:nvPr/>
        </p:nvSpPr>
        <p:spPr>
          <a:xfrm>
            <a:off x="7726680" y="3017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WEEK 1</a:t>
            </a:r>
            <a:endParaRPr lang="en-US" sz="1050" dirty="0"/>
          </a:p>
        </p:txBody>
      </p:sp>
      <p:sp>
        <p:nvSpPr>
          <p:cNvPr id="5" name="stat_value_32"/>
          <p:cNvSpPr txBox="1"/>
          <p:nvPr/>
        </p:nvSpPr>
        <p:spPr>
          <a:xfrm>
            <a:off x="411480" y="868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1,097</a:t>
            </a:r>
            <a:endParaRPr lang="en-US" sz="2600" dirty="0"/>
          </a:p>
        </p:txBody>
      </p:sp>
      <p:sp>
        <p:nvSpPr>
          <p:cNvPr id="6" name="stat_label_33"/>
          <p:cNvSpPr txBox="1"/>
          <p:nvPr/>
        </p:nvSpPr>
        <p:spPr>
          <a:xfrm>
            <a:off x="41148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patients (open access)</a:t>
            </a:r>
            <a:endParaRPr lang="en-US" sz="1000" dirty="0"/>
          </a:p>
        </p:txBody>
      </p:sp>
      <p:sp>
        <p:nvSpPr>
          <p:cNvPr id="7" name="stat_value_34"/>
          <p:cNvSpPr txBox="1"/>
          <p:nvPr/>
        </p:nvSpPr>
        <p:spPr>
          <a:xfrm>
            <a:off x="1965960" y="868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40</a:t>
            </a:r>
            <a:endParaRPr lang="en-US" sz="2600" dirty="0"/>
          </a:p>
        </p:txBody>
      </p:sp>
      <p:sp>
        <p:nvSpPr>
          <p:cNvPr id="8" name="stat_label_35"/>
          <p:cNvSpPr txBox="1"/>
          <p:nvPr/>
        </p:nvSpPr>
        <p:spPr>
          <a:xfrm>
            <a:off x="196596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tissue-source sites</a:t>
            </a:r>
            <a:endParaRPr lang="en-US" sz="1000" dirty="0"/>
          </a:p>
        </p:txBody>
      </p:sp>
      <p:sp>
        <p:nvSpPr>
          <p:cNvPr id="9" name="ds_intro"/>
          <p:cNvSpPr txBox="1"/>
          <p:nvPr/>
        </p:nvSpPr>
        <p:spPr>
          <a:xfrm>
            <a:off x="41148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Labels joined per patient: IHC, RNA (ESR1/PGR/ERBB2), PAM50, RPPA protein. Three slide types per patient:</a:t>
            </a:r>
            <a:endParaRPr lang="en-US" sz="1150" dirty="0"/>
          </a:p>
        </p:txBody>
      </p:sp>
      <p:graphicFrame>
        <p:nvGraphicFramePr>
          <p:cNvPr id="4" name="ds_slide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3291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Slide type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Patients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FFPE diagnostic (DX)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1,060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Frozen top (TS)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1,043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Frozen bottom (BS)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ds_disc_title"/>
          <p:cNvSpPr txBox="1"/>
          <p:nvPr/>
        </p:nvSpPr>
        <p:spPr>
          <a:xfrm>
            <a:off x="416052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How often the “truths” disagree (no images)</a:t>
            </a:r>
            <a:endParaRPr lang="en-US" sz="1300" dirty="0"/>
          </a:p>
        </p:txBody>
      </p:sp>
      <p:graphicFrame>
        <p:nvGraphicFramePr>
          <p:cNvPr id="7" name="ds_disc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234440"/>
          <a:ext cx="461772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783080"/>
                <a:gridCol w="86868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Marker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Compared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Discordant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mRNA alone → IHC (AUC)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IHC vs RNA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0.96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IHC vs RNA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16.7%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HER2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IHC/FISH vs amplification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card_36"/>
          <p:cNvSpPr/>
          <p:nvPr/>
        </p:nvSpPr>
        <p:spPr>
          <a:xfrm>
            <a:off x="4160520" y="2697480"/>
            <a:ext cx="46177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card_dot_37"/>
          <p:cNvSpPr/>
          <p:nvPr/>
        </p:nvSpPr>
        <p:spPr>
          <a:xfrm>
            <a:off x="4288536" y="2816352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card_title_38"/>
          <p:cNvSpPr txBox="1"/>
          <p:nvPr/>
        </p:nvSpPr>
        <p:spPr>
          <a:xfrm>
            <a:off x="4544568" y="2761488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Notes</a:t>
            </a:r>
            <a:endParaRPr lang="en-US" sz="1300" dirty="0"/>
          </a:p>
        </p:txBody>
      </p:sp>
      <p:sp>
        <p:nvSpPr>
          <p:cNvPr id="16" name="card_body_39"/>
          <p:cNvSpPr txBox="1"/>
          <p:nvPr/>
        </p:nvSpPr>
        <p:spPr>
          <a:xfrm>
            <a:off x="4270248" y="3081528"/>
            <a:ext cx="4416552" cy="114300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TCGA's HER2 field is noisy: we use a strict IHC/FISH rule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ER discordance is mostly ER-low tumours (&lt; 10% of cells stained)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All five experiments are feasible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 on public data (smallest: 1d, 57 vs 261 cases)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2803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Baselines and first results</a:t>
            </a:r>
            <a:endParaRPr lang="en-US" sz="2400" dirty="0"/>
          </a:p>
        </p:txBody>
      </p:sp>
      <p:sp>
        <p:nvSpPr>
          <p:cNvPr id="3" name="week_tag_40"/>
          <p:cNvSpPr/>
          <p:nvPr/>
        </p:nvSpPr>
        <p:spPr>
          <a:xfrm>
            <a:off x="7726680" y="301752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week_tag_text_41"/>
          <p:cNvSpPr txBox="1"/>
          <p:nvPr/>
        </p:nvSpPr>
        <p:spPr>
          <a:xfrm>
            <a:off x="7726680" y="3017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WEEK 1</a:t>
            </a:r>
            <a:endParaRPr lang="en-US" sz="1050" dirty="0"/>
          </a:p>
        </p:txBody>
      </p:sp>
      <p:sp>
        <p:nvSpPr>
          <p:cNvPr id="5" name="w1_setup"/>
          <p:cNvSpPr txBox="1"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frozen encoders on the DX slides of 1,055 patients → logistic regression on the slide embedding (TITAN) or the mean of all patches (UNI, CONCH); 5-fold site-grouped CV over seeds</a:t>
            </a:r>
            <a:endParaRPr lang="en-US" sz="1100" dirty="0"/>
          </a:p>
        </p:txBody>
      </p:sp>
      <p:graphicFrame>
        <p:nvGraphicFramePr>
          <p:cNvPr id="6" name="w1_er_chart" descr=""/>
          <p:cNvGraphicFramePr/>
          <p:nvPr/>
        </p:nvGraphicFramePr>
        <p:xfrm>
          <a:off x="365760" y="1234440"/>
          <a:ext cx="34290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w1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234440"/>
          <a:ext cx="484632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719072"/>
                <a:gridCol w="822960"/>
                <a:gridCol w="822960"/>
                <a:gridCol w="82296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TITAN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UNI v1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CONCH v1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1a AUC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PR: IHC → RNA (n=986)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0.80 → 0.79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0.80 → 0.73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0.78 → 0.75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HER2: clin. → amp. (n=478)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0.68 → 0.72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0.63 → 0.68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0.62 → 0.68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1b side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ER discordant (n=54)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3"/>
                          </a:solidFill>
                        </a:rPr>
                        <a:t>39:15**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34:20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3"/>
                          </a:solidFill>
                        </a:rPr>
                        <a:t>35:19*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PR discordant (n=169)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4"/>
                          </a:solidFill>
                        </a:rPr>
                        <a:t>69:100*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4"/>
                          </a:solidFill>
                        </a:rPr>
                        <a:t>55:114***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4"/>
                          </a:solidFill>
                        </a:rPr>
                        <a:t>61:108***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HER2 discordant (n=60)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35:25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3"/>
                          </a:solidFill>
                        </a:rPr>
                        <a:t>44:16***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3"/>
                          </a:solidFill>
                        </a:rPr>
                        <a:t>39:21*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Control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Shuffled ER labels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0.46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0.51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0.46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HER2 0 vs low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0.40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0.50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0.43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w1_footnote"/>
          <p:cNvSpPr txBox="1"/>
          <p:nvPr/>
        </p:nvSpPr>
        <p:spPr>
          <a:xfrm>
            <a:off x="3931920" y="3401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1b: discordant cases siding molecular : IHC; </a:t>
            </a:r>
            <a:pPr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teal</a:t>
            </a:r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 = molecular side wins, </a:t>
            </a:r>
            <a:pPr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amber</a:t>
            </a:r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 = IHC side wins (binomial *, **, *** = p &lt; 0.05, 0.01, 0.001). HER2-low: mRNA alone 0.69. TITAN 5 seeds, UNI/CONCH 3.</a:t>
            </a:r>
            <a:endParaRPr lang="en-US" sz="850" dirty="0"/>
          </a:p>
        </p:txBody>
      </p:sp>
      <p:sp>
        <p:nvSpPr>
          <p:cNvPr id="9" name="card_42"/>
          <p:cNvSpPr/>
          <p:nvPr/>
        </p:nvSpPr>
        <p:spPr>
          <a:xfrm>
            <a:off x="365760" y="3822192"/>
            <a:ext cx="416052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card_dot_43"/>
          <p:cNvSpPr/>
          <p:nvPr/>
        </p:nvSpPr>
        <p:spPr>
          <a:xfrm>
            <a:off x="493776" y="3941064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card_title_44"/>
          <p:cNvSpPr txBox="1"/>
          <p:nvPr/>
        </p:nvSpPr>
        <p:spPr>
          <a:xfrm>
            <a:off x="749808" y="388620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Consistent across all three encoders</a:t>
            </a:r>
            <a:endParaRPr lang="en-US" sz="1300" dirty="0"/>
          </a:p>
        </p:txBody>
      </p:sp>
      <p:sp>
        <p:nvSpPr>
          <p:cNvPr id="12" name="card_body_45"/>
          <p:cNvSpPr txBox="1"/>
          <p:nvPr/>
        </p:nvSpPr>
        <p:spPr>
          <a:xfrm>
            <a:off x="475488" y="4206240"/>
            <a:ext cx="3959352" cy="438912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ER, HER2: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H&amp;E tracks the molecular label more than IHC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PR: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the opposite, sides with IHC (to be checked)</a:t>
            </a:r>
            <a:endParaRPr lang="en-US" sz="1100" dirty="0"/>
          </a:p>
        </p:txBody>
      </p:sp>
      <p:sp>
        <p:nvSpPr>
          <p:cNvPr id="13" name="card_46"/>
          <p:cNvSpPr/>
          <p:nvPr/>
        </p:nvSpPr>
        <p:spPr>
          <a:xfrm>
            <a:off x="4663440" y="3822192"/>
            <a:ext cx="411480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card_dot_47"/>
          <p:cNvSpPr/>
          <p:nvPr/>
        </p:nvSpPr>
        <p:spPr>
          <a:xfrm>
            <a:off x="4791456" y="3941064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card_title_48"/>
          <p:cNvSpPr txBox="1"/>
          <p:nvPr/>
        </p:nvSpPr>
        <p:spPr>
          <a:xfrm>
            <a:off x="5047488" y="38862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Site leakage and HER2-low</a:t>
            </a:r>
            <a:endParaRPr lang="en-US" sz="1300" dirty="0"/>
          </a:p>
        </p:txBody>
      </p:sp>
      <p:sp>
        <p:nvSpPr>
          <p:cNvPr id="16" name="card_body_49"/>
          <p:cNvSpPr txBox="1"/>
          <p:nvPr/>
        </p:nvSpPr>
        <p:spPr>
          <a:xfrm>
            <a:off x="4773168" y="4206240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Embeddings identify the hospital 82% of the time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HER2 0 vs 1+: 0.63 (random folds) → chance (site-grouped)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2803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ABMIL agrees; PR was a cut-off artefact</a:t>
            </a:r>
            <a:endParaRPr lang="en-US" sz="2400" dirty="0"/>
          </a:p>
        </p:txBody>
      </p:sp>
      <p:sp>
        <p:nvSpPr>
          <p:cNvPr id="3" name="week_tag_50"/>
          <p:cNvSpPr/>
          <p:nvPr/>
        </p:nvSpPr>
        <p:spPr>
          <a:xfrm>
            <a:off x="7726680" y="301752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week_tag_text_51"/>
          <p:cNvSpPr txBox="1"/>
          <p:nvPr/>
        </p:nvSpPr>
        <p:spPr>
          <a:xfrm>
            <a:off x="7726680" y="3017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WEEK 2</a:t>
            </a:r>
            <a:endParaRPr lang="en-US" sz="1050" dirty="0"/>
          </a:p>
        </p:txBody>
      </p:sp>
      <p:sp>
        <p:nvSpPr>
          <p:cNvPr id="5" name="w2a_setup"/>
          <p:cNvSpPr txBox="1"/>
          <p:nvPr/>
        </p:nvSpPr>
        <p:spPr>
          <a:xfrm>
            <a:off x="36576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Attention-MIL (ABMIL) on UNI and CONCH patches, 3 seeds, same site-grouped folds</a:t>
            </a:r>
            <a:endParaRPr lang="en-US" sz="1100" dirty="0"/>
          </a:p>
        </p:txBody>
      </p:sp>
      <p:graphicFrame>
        <p:nvGraphicFramePr>
          <p:cNvPr id="6" name="w2a_abmi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4114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ABMIL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UNI v1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CONCH v1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1a ER: IHC → RNA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0.86 → 0.91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0.85 → 0.90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1a HER2: clinical → amplif.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0.67 → 0.69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0.67 → 0.73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1b ER discordant (n=54)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34:20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36:18*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1b HER2 discordant (n=60)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47:13***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34:26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Shuffled ER (control)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0.49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0.46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HER2 0 vs low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0.55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rd_52"/>
          <p:cNvSpPr/>
          <p:nvPr/>
        </p:nvSpPr>
        <p:spPr>
          <a:xfrm>
            <a:off x="365760" y="3246120"/>
            <a:ext cx="41148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card_dot_53"/>
          <p:cNvSpPr/>
          <p:nvPr/>
        </p:nvSpPr>
        <p:spPr>
          <a:xfrm>
            <a:off x="493776" y="3364992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ard_title_54"/>
          <p:cNvSpPr txBox="1"/>
          <p:nvPr/>
        </p:nvSpPr>
        <p:spPr>
          <a:xfrm>
            <a:off x="749808" y="3310128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Takeaway</a:t>
            </a:r>
            <a:endParaRPr lang="en-US" sz="1300" dirty="0"/>
          </a:p>
        </p:txBody>
      </p:sp>
      <p:sp>
        <p:nvSpPr>
          <p:cNvPr id="10" name="card_body_55"/>
          <p:cNvSpPr txBox="1"/>
          <p:nvPr/>
        </p:nvSpPr>
        <p:spPr>
          <a:xfrm>
            <a:off x="475488" y="3630168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ABMIL agrees with mean-pooling: the RNA-defined ER label is more predictable, and HER2 calls side with amplification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HER2-low stays at chance with attention too</a:t>
            </a:r>
            <a:endParaRPr lang="en-US" sz="1100" dirty="0"/>
          </a:p>
        </p:txBody>
      </p:sp>
      <p:graphicFrame>
        <p:nvGraphicFramePr>
          <p:cNvPr id="11" name="w2a_pr_chart" descr=""/>
          <p:cNvGraphicFramePr/>
          <p:nvPr/>
        </p:nvGraphicFramePr>
        <p:xfrm>
          <a:off x="4663440" y="868680"/>
          <a:ext cx="4114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card_56"/>
          <p:cNvSpPr/>
          <p:nvPr/>
        </p:nvSpPr>
        <p:spPr>
          <a:xfrm>
            <a:off x="4663440" y="3493008"/>
            <a:ext cx="4114800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card_dot_57"/>
          <p:cNvSpPr/>
          <p:nvPr/>
        </p:nvSpPr>
        <p:spPr>
          <a:xfrm>
            <a:off x="4791456" y="3611880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ard_title_58"/>
          <p:cNvSpPr txBox="1"/>
          <p:nvPr/>
        </p:nvSpPr>
        <p:spPr>
          <a:xfrm>
            <a:off x="5047488" y="3557016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PR: no reliable preference</a:t>
            </a:r>
            <a:endParaRPr lang="en-US" sz="1300" dirty="0"/>
          </a:p>
        </p:txBody>
      </p:sp>
      <p:sp>
        <p:nvSpPr>
          <p:cNvPr id="15" name="card_body_59"/>
          <p:cNvSpPr txBox="1"/>
          <p:nvPr/>
        </p:nvSpPr>
        <p:spPr>
          <a:xfrm>
            <a:off x="4773168" y="3877056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GMM cut-off labels more tumours PR-negative than IHC does; matching IHC prevalence removes the gap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Discordant PR (n = 133) then splits evenly: all five models p &gt; 0.3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2803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ER-low tumours are read as ER-negative</a:t>
            </a:r>
            <a:endParaRPr lang="en-US" sz="2400" dirty="0"/>
          </a:p>
        </p:txBody>
      </p:sp>
      <p:sp>
        <p:nvSpPr>
          <p:cNvPr id="3" name="week_tag_60"/>
          <p:cNvSpPr/>
          <p:nvPr/>
        </p:nvSpPr>
        <p:spPr>
          <a:xfrm>
            <a:off x="7726680" y="301752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week_tag_text_61"/>
          <p:cNvSpPr txBox="1"/>
          <p:nvPr/>
        </p:nvSpPr>
        <p:spPr>
          <a:xfrm>
            <a:off x="7726680" y="3017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WEEK 2</a:t>
            </a:r>
            <a:endParaRPr lang="en-US" sz="1050" dirty="0"/>
          </a:p>
        </p:txBody>
      </p:sp>
      <p:sp>
        <p:nvSpPr>
          <p:cNvPr id="5" name="w2b_setup"/>
          <p:cNvSpPr txBox="1"/>
          <p:nvPr/>
        </p:nvSpPr>
        <p:spPr>
          <a:xfrm>
            <a:off x="365760" y="8046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Model trained on concordant patients; which label does it agree with on discordant ones? (RNA : IHC)</a:t>
            </a:r>
            <a:endParaRPr lang="en-US" sz="1050" dirty="0"/>
          </a:p>
        </p:txBody>
      </p:sp>
      <p:graphicFrame>
        <p:nvGraphicFramePr>
          <p:cNvPr id="7" name="w2b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4343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"/>
                <a:gridCol w="685800"/>
                <a:gridCol w="685800"/>
                <a:gridCol w="73152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ER discordant subgroup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TITAN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UNI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CONCH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IHC+ / RNA−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24:10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21:13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22:12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IHC− / RNA+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15:5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13:7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13:7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ER-low (IHC+, &lt; 10% stained)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9:2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9:2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9:2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ER 10–39% stained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7:2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6:3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7:2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w2b_att_title"/>
          <p:cNvSpPr txBox="1"/>
          <p:nvPr/>
        </p:nvSpPr>
        <p:spPr>
          <a:xfrm>
            <a:off x="365760" y="26974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ABMIL attention maps: 54 discordant + 10 reference patients (UNI)</a:t>
            </a:r>
            <a:endParaRPr lang="en-US" sz="1200" dirty="0"/>
          </a:p>
        </p:txBody>
      </p:sp>
      <p:sp>
        <p:nvSpPr>
          <p:cNvPr id="8" name="stat_value_62"/>
          <p:cNvSpPr txBox="1"/>
          <p:nvPr/>
        </p:nvSpPr>
        <p:spPr>
          <a:xfrm>
            <a:off x="365760" y="2944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35 / 54</a:t>
            </a:r>
            <a:endParaRPr lang="en-US" sz="2600" dirty="0"/>
          </a:p>
        </p:txBody>
      </p:sp>
      <p:sp>
        <p:nvSpPr>
          <p:cNvPr id="9" name="stat_label_63"/>
          <p:cNvSpPr txBox="1"/>
          <p:nvPr/>
        </p:nvSpPr>
        <p:spPr>
          <a:xfrm>
            <a:off x="365760" y="3401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discordant: side with RNA</a:t>
            </a:r>
            <a:endParaRPr lang="en-US" sz="1000" dirty="0"/>
          </a:p>
        </p:txBody>
      </p:sp>
      <p:sp>
        <p:nvSpPr>
          <p:cNvPr id="10" name="stat_value_64"/>
          <p:cNvSpPr txBox="1"/>
          <p:nvPr/>
        </p:nvSpPr>
        <p:spPr>
          <a:xfrm>
            <a:off x="1783080" y="2944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8 / 10</a:t>
            </a:r>
            <a:endParaRPr lang="en-US" sz="2600" dirty="0"/>
          </a:p>
        </p:txBody>
      </p:sp>
      <p:sp>
        <p:nvSpPr>
          <p:cNvPr id="11" name="stat_label_65"/>
          <p:cNvSpPr txBox="1"/>
          <p:nvPr/>
        </p:nvSpPr>
        <p:spPr>
          <a:xfrm>
            <a:off x="1783080" y="3401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ER-low: side with RNA</a:t>
            </a:r>
            <a:endParaRPr lang="en-US" sz="1000" dirty="0"/>
          </a:p>
        </p:txBody>
      </p:sp>
      <p:sp>
        <p:nvSpPr>
          <p:cNvPr id="12" name="stat_value_66"/>
          <p:cNvSpPr txBox="1"/>
          <p:nvPr/>
        </p:nvSpPr>
        <p:spPr>
          <a:xfrm>
            <a:off x="3200400" y="29443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r = 0.52</a:t>
            </a:r>
            <a:endParaRPr lang="en-US" sz="2600" dirty="0"/>
          </a:p>
        </p:txBody>
      </p:sp>
      <p:sp>
        <p:nvSpPr>
          <p:cNvPr id="13" name="stat_label_67"/>
          <p:cNvSpPr txBox="1"/>
          <p:nvPr/>
        </p:nvSpPr>
        <p:spPr>
          <a:xfrm>
            <a:off x="3200400" y="3401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P(ER+) vs ESR1 level</a:t>
            </a:r>
            <a:endParaRPr lang="en-US" sz="1000" dirty="0"/>
          </a:p>
        </p:txBody>
      </p:sp>
      <p:sp>
        <p:nvSpPr>
          <p:cNvPr id="14" name="w2b_att_notes"/>
          <p:cNvSpPr txBox="1"/>
          <p:nvPr/>
        </p:nvSpPr>
        <p:spPr>
          <a:xfrm>
            <a:off x="365760" y="3822192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References correctly classified 8 / 10; attention is focused (5–7% of patches hold half of it) and similar across groups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Both ER-low exceptions are PAM50 HER2-enriched; all 6 Basal ER-low tumours are called ER−</a:t>
            </a:r>
            <a:endParaRPr lang="en-US" sz="1050" dirty="0"/>
          </a:p>
        </p:txBody>
      </p:sp>
      <p:sp>
        <p:nvSpPr>
          <p:cNvPr id="15" name="w2b_fig_bg"/>
          <p:cNvSpPr/>
          <p:nvPr/>
        </p:nvSpPr>
        <p:spPr>
          <a:xfrm>
            <a:off x="4892040" y="868680"/>
            <a:ext cx="3886200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w2b_heat1" descr="C:\Users\sriva\whl\deck\att_TCGA-A2-A4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024128"/>
            <a:ext cx="3520440" cy="1820686"/>
          </a:xfrm>
          <a:prstGeom prst="rect">
            <a:avLst/>
          </a:prstGeom>
        </p:spPr>
      </p:pic>
      <p:sp>
        <p:nvSpPr>
          <p:cNvPr id="17" name="w2b_cap1"/>
          <p:cNvSpPr txBox="1"/>
          <p:nvPr/>
        </p:nvSpPr>
        <p:spPr>
          <a:xfrm>
            <a:off x="5029200" y="2926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ER-low (IHC+ &lt; 10%), RNA−, Basal → called ER−, P(ER+) = 0.00</a:t>
            </a:r>
            <a:endParaRPr lang="en-US" sz="950" dirty="0"/>
          </a:p>
        </p:txBody>
      </p:sp>
      <p:pic>
        <p:nvPicPr>
          <p:cNvPr id="18" name="w2b_heat2" descr="C:\Users\sriva\whl\deck\att_TCGA-AR-A0T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310128"/>
            <a:ext cx="1463040" cy="1268934"/>
          </a:xfrm>
          <a:prstGeom prst="rect">
            <a:avLst/>
          </a:prstGeom>
        </p:spPr>
      </p:pic>
      <p:sp>
        <p:nvSpPr>
          <p:cNvPr id="19" name="w2b_cap2"/>
          <p:cNvSpPr txBox="1"/>
          <p:nvPr/>
        </p:nvSpPr>
        <p:spPr>
          <a:xfrm>
            <a:off x="6675120" y="3346704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Exception: ER-low, RNA−, HER2-enriched → called ER+ (with IHC)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Colour = attention percentile within the slide (bright = high); patch positions only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2803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Fixed splits; frozen slides encoded</a:t>
            </a:r>
            <a:endParaRPr lang="en-US" sz="2400" dirty="0"/>
          </a:p>
        </p:txBody>
      </p:sp>
      <p:sp>
        <p:nvSpPr>
          <p:cNvPr id="3" name="week_tag_68"/>
          <p:cNvSpPr/>
          <p:nvPr/>
        </p:nvSpPr>
        <p:spPr>
          <a:xfrm>
            <a:off x="7726680" y="301752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week_tag_text_69"/>
          <p:cNvSpPr txBox="1"/>
          <p:nvPr/>
        </p:nvSpPr>
        <p:spPr>
          <a:xfrm>
            <a:off x="7726680" y="3017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WEEK 2</a:t>
            </a:r>
            <a:endParaRPr lang="en-US" sz="1050" dirty="0"/>
          </a:p>
        </p:txBody>
      </p:sp>
      <p:sp>
        <p:nvSpPr>
          <p:cNvPr id="5" name="card_70"/>
          <p:cNvSpPr/>
          <p:nvPr/>
        </p:nvSpPr>
        <p:spPr>
          <a:xfrm>
            <a:off x="365760" y="868680"/>
            <a:ext cx="28346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card_dot_71"/>
          <p:cNvSpPr/>
          <p:nvPr/>
        </p:nvSpPr>
        <p:spPr>
          <a:xfrm>
            <a:off x="493776" y="987552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rd_title_72"/>
          <p:cNvSpPr txBox="1"/>
          <p:nvPr/>
        </p:nvSpPr>
        <p:spPr>
          <a:xfrm>
            <a:off x="749808" y="93268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Fixed site-grouped CV splits</a:t>
            </a:r>
            <a:endParaRPr lang="en-US" sz="1300" dirty="0"/>
          </a:p>
        </p:txBody>
      </p:sp>
      <p:sp>
        <p:nvSpPr>
          <p:cNvPr id="8" name="card_body_73"/>
          <p:cNvSpPr txBox="1"/>
          <p:nvPr/>
        </p:nvSpPr>
        <p:spPr>
          <a:xfrm>
            <a:off x="475488" y="1252728"/>
            <a:ext cx="2633472" cy="150876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Two scikit-learn versions gave different folds for the same seed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One shared split file (data/splits/folds.csv) for every script; library pinned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All linear baselines rerun on Ada: conclusions unchanged</a:t>
            </a:r>
            <a:endParaRPr lang="en-US" sz="1050" dirty="0"/>
          </a:p>
        </p:txBody>
      </p:sp>
      <p:sp>
        <p:nvSpPr>
          <p:cNvPr id="9" name="stat_value_74"/>
          <p:cNvSpPr txBox="1"/>
          <p:nvPr/>
        </p:nvSpPr>
        <p:spPr>
          <a:xfrm>
            <a:off x="50292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+0.058</a:t>
            </a:r>
            <a:endParaRPr lang="en-US" sz="2600" dirty="0"/>
          </a:p>
        </p:txBody>
      </p:sp>
      <p:sp>
        <p:nvSpPr>
          <p:cNvPr id="10" name="stat_label_75"/>
          <p:cNvSpPr txBox="1"/>
          <p:nvPr/>
        </p:nvSpPr>
        <p:spPr>
          <a:xfrm>
            <a:off x="502920" y="3383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TITAN ER ΔAUC on fixed splits (95% CI +0.031, +0.084)</a:t>
            </a:r>
            <a:endParaRPr lang="en-US" sz="1000" dirty="0"/>
          </a:p>
        </p:txBody>
      </p:sp>
      <p:sp>
        <p:nvSpPr>
          <p:cNvPr id="11" name="w2c_pipe_title"/>
          <p:cNvSpPr txBox="1"/>
          <p:nvPr/>
        </p:nvSpPr>
        <p:spPr>
          <a:xfrm>
            <a:off x="3429000" y="8686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Frozen-slide feature pipeline (Ada, RTX 2080 Ti)</a:t>
            </a:r>
            <a:endParaRPr lang="en-US" sz="1300" dirty="0"/>
          </a:p>
        </p:txBody>
      </p:sp>
      <p:sp>
        <p:nvSpPr>
          <p:cNvPr id="12" name="fpipe_box_76"/>
          <p:cNvSpPr/>
          <p:nvPr/>
        </p:nvSpPr>
        <p:spPr>
          <a:xfrm>
            <a:off x="3429000" y="1216152"/>
            <a:ext cx="93268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fpipe_text_77"/>
          <p:cNvSpPr txBox="1"/>
          <p:nvPr/>
        </p:nvSpPr>
        <p:spPr>
          <a:xfrm>
            <a:off x="3429000" y="1216152"/>
            <a:ext cx="932688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Manifest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1,516 TS/BS slides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373 TS+BS pairs</a:t>
            </a:r>
            <a:endParaRPr lang="en-US" sz="900" dirty="0"/>
          </a:p>
        </p:txBody>
      </p:sp>
      <p:sp>
        <p:nvSpPr>
          <p:cNvPr id="14" name="arrow_78"/>
          <p:cNvSpPr/>
          <p:nvPr/>
        </p:nvSpPr>
        <p:spPr>
          <a:xfrm>
            <a:off x="4370832" y="1650492"/>
            <a:ext cx="1554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fpipe_box_79"/>
          <p:cNvSpPr/>
          <p:nvPr/>
        </p:nvSpPr>
        <p:spPr>
          <a:xfrm>
            <a:off x="4535424" y="1216152"/>
            <a:ext cx="932688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fpipe_text_80"/>
          <p:cNvSpPr txBox="1"/>
          <p:nvPr/>
        </p:nvSpPr>
        <p:spPr>
          <a:xfrm>
            <a:off x="4535424" y="1216152"/>
            <a:ext cx="932688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Download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IDC copy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(Google Cloud)</a:t>
            </a:r>
            <a:endParaRPr lang="en-US" sz="900" dirty="0"/>
          </a:p>
        </p:txBody>
      </p:sp>
      <p:sp>
        <p:nvSpPr>
          <p:cNvPr id="17" name="arrow_81"/>
          <p:cNvSpPr/>
          <p:nvPr/>
        </p:nvSpPr>
        <p:spPr>
          <a:xfrm>
            <a:off x="5477256" y="1650492"/>
            <a:ext cx="1554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fpipe_box_82"/>
          <p:cNvSpPr/>
          <p:nvPr/>
        </p:nvSpPr>
        <p:spPr>
          <a:xfrm>
            <a:off x="5641848" y="1216152"/>
            <a:ext cx="93268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fpipe_text_83"/>
          <p:cNvSpPr txBox="1"/>
          <p:nvPr/>
        </p:nvSpPr>
        <p:spPr>
          <a:xfrm>
            <a:off x="5641848" y="1216152"/>
            <a:ext cx="932688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TRIDENT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tissue seg.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256 px @ 20×</a:t>
            </a:r>
            <a:endParaRPr lang="en-US" sz="900" dirty="0"/>
          </a:p>
        </p:txBody>
      </p:sp>
      <p:sp>
        <p:nvSpPr>
          <p:cNvPr id="20" name="arrow_84"/>
          <p:cNvSpPr/>
          <p:nvPr/>
        </p:nvSpPr>
        <p:spPr>
          <a:xfrm>
            <a:off x="6583680" y="1650492"/>
            <a:ext cx="1554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fpipe_box_85"/>
          <p:cNvSpPr/>
          <p:nvPr/>
        </p:nvSpPr>
        <p:spPr>
          <a:xfrm>
            <a:off x="6748272" y="1216152"/>
            <a:ext cx="93268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fpipe_text_86"/>
          <p:cNvSpPr txBox="1"/>
          <p:nvPr/>
        </p:nvSpPr>
        <p:spPr>
          <a:xfrm>
            <a:off x="6748272" y="1216152"/>
            <a:ext cx="932688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UNI v1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(frozen)</a:t>
            </a:r>
            <a:endParaRPr lang="en-US" sz="900" dirty="0"/>
          </a:p>
        </p:txBody>
      </p:sp>
      <p:sp>
        <p:nvSpPr>
          <p:cNvPr id="23" name="arrow_87"/>
          <p:cNvSpPr/>
          <p:nvPr/>
        </p:nvSpPr>
        <p:spPr>
          <a:xfrm>
            <a:off x="7690104" y="1650492"/>
            <a:ext cx="1554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fpipe_box_88"/>
          <p:cNvSpPr/>
          <p:nvPr/>
        </p:nvSpPr>
        <p:spPr>
          <a:xfrm>
            <a:off x="7854696" y="1216152"/>
            <a:ext cx="93268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fpipe_text_89"/>
          <p:cNvSpPr txBox="1"/>
          <p:nvPr/>
        </p:nvSpPr>
        <p:spPr>
          <a:xfrm>
            <a:off x="7854696" y="1216152"/>
            <a:ext cx="932688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Mean + 4,096-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patch bag;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delete slide</a:t>
            </a:r>
            <a:endParaRPr lang="en-US" sz="900" dirty="0"/>
          </a:p>
        </p:txBody>
      </p:sp>
      <p:sp>
        <p:nvSpPr>
          <p:cNvPr id="26" name="stat_value_90"/>
          <p:cNvSpPr txBox="1"/>
          <p:nvPr/>
        </p:nvSpPr>
        <p:spPr>
          <a:xfrm>
            <a:off x="342900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1,515</a:t>
            </a:r>
            <a:endParaRPr lang="en-US" sz="2600" dirty="0"/>
          </a:p>
        </p:txBody>
      </p:sp>
      <p:sp>
        <p:nvSpPr>
          <p:cNvPr id="27" name="stat_label_91"/>
          <p:cNvSpPr txBox="1"/>
          <p:nvPr/>
        </p:nvSpPr>
        <p:spPr>
          <a:xfrm>
            <a:off x="3429000" y="26974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frozen slides encoded (1,044 TS, 471 BS)</a:t>
            </a:r>
            <a:endParaRPr lang="en-US" sz="1000" dirty="0"/>
          </a:p>
        </p:txBody>
      </p:sp>
      <p:sp>
        <p:nvSpPr>
          <p:cNvPr id="28" name="stat_value_92"/>
          <p:cNvSpPr txBox="1"/>
          <p:nvPr/>
        </p:nvSpPr>
        <p:spPr>
          <a:xfrm>
            <a:off x="525780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~75 s</a:t>
            </a:r>
            <a:endParaRPr lang="en-US" sz="2600" dirty="0"/>
          </a:p>
        </p:txBody>
      </p:sp>
      <p:sp>
        <p:nvSpPr>
          <p:cNvPr id="29" name="stat_label_93"/>
          <p:cNvSpPr txBox="1"/>
          <p:nvPr/>
        </p:nvSpPr>
        <p:spPr>
          <a:xfrm>
            <a:off x="5257800" y="26974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per slide; 3 GPUs in parallel</a:t>
            </a:r>
            <a:endParaRPr lang="en-US" sz="1000" dirty="0"/>
          </a:p>
        </p:txBody>
      </p:sp>
      <p:sp>
        <p:nvSpPr>
          <p:cNvPr id="30" name="stat_value_94"/>
          <p:cNvSpPr txBox="1"/>
          <p:nvPr/>
        </p:nvSpPr>
        <p:spPr>
          <a:xfrm>
            <a:off x="708660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1.0000</a:t>
            </a:r>
            <a:endParaRPr lang="en-US" sz="2600" dirty="0"/>
          </a:p>
        </p:txBody>
      </p:sp>
      <p:sp>
        <p:nvSpPr>
          <p:cNvPr id="31" name="stat_label_95"/>
          <p:cNvSpPr txBox="1"/>
          <p:nvPr/>
        </p:nvSpPr>
        <p:spPr>
          <a:xfrm>
            <a:off x="7086600" y="26974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cosine to TRACE features (46 DX slides re-extracted)</a:t>
            </a:r>
            <a:endParaRPr lang="en-US" sz="1000" dirty="0"/>
          </a:p>
        </p:txBody>
      </p:sp>
      <p:sp>
        <p:nvSpPr>
          <p:cNvPr id="32" name="card_96"/>
          <p:cNvSpPr/>
          <p:nvPr/>
        </p:nvSpPr>
        <p:spPr>
          <a:xfrm>
            <a:off x="3429000" y="32918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3" name="card_dot_97"/>
          <p:cNvSpPr/>
          <p:nvPr/>
        </p:nvSpPr>
        <p:spPr>
          <a:xfrm>
            <a:off x="3557016" y="3410712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card_title_98"/>
          <p:cNvSpPr txBox="1"/>
          <p:nvPr/>
        </p:nvSpPr>
        <p:spPr>
          <a:xfrm>
            <a:off x="3813048" y="335584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Why IDC, not GDC</a:t>
            </a:r>
            <a:endParaRPr lang="en-US" sz="1300" dirty="0"/>
          </a:p>
        </p:txBody>
      </p:sp>
      <p:sp>
        <p:nvSpPr>
          <p:cNvPr id="35" name="card_body_99"/>
          <p:cNvSpPr txBox="1"/>
          <p:nvPr/>
        </p:nvSpPr>
        <p:spPr>
          <a:xfrm>
            <a:off x="3538728" y="3675888"/>
            <a:ext cx="2404872" cy="96012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GDC from Ada: 0.02–0.3 MB/s per connection (430 GB → weeks)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Same slides in IDC (DICOM) via Google Cloud: ~10 MB/s</a:t>
            </a:r>
            <a:endParaRPr lang="en-US" sz="1000" dirty="0"/>
          </a:p>
        </p:txBody>
      </p:sp>
      <p:sp>
        <p:nvSpPr>
          <p:cNvPr id="36" name="card_100"/>
          <p:cNvSpPr/>
          <p:nvPr/>
        </p:nvSpPr>
        <p:spPr>
          <a:xfrm>
            <a:off x="6172200" y="329184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7" name="card_dot_101"/>
          <p:cNvSpPr/>
          <p:nvPr/>
        </p:nvSpPr>
        <p:spPr>
          <a:xfrm>
            <a:off x="6300216" y="3410712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card_title_102"/>
          <p:cNvSpPr txBox="1"/>
          <p:nvPr/>
        </p:nvSpPr>
        <p:spPr>
          <a:xfrm>
            <a:off x="6556248" y="335584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Ready for 1c / 1e</a:t>
            </a:r>
            <a:endParaRPr lang="en-US" sz="1300" dirty="0"/>
          </a:p>
        </p:txBody>
      </p:sp>
      <p:sp>
        <p:nvSpPr>
          <p:cNvPr id="39" name="card_body_103"/>
          <p:cNvSpPr txBox="1"/>
          <p:nvPr/>
        </p:nvSpPr>
        <p:spPr>
          <a:xfrm>
            <a:off x="6281928" y="3675888"/>
            <a:ext cx="2404872" cy="96012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Our pipeline reproduces the DX features exactly, so DX vs frozen differ only in tissue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UNI weights access granted; all slides done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2803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Plan for the next week (Week 3)</a:t>
            </a:r>
            <a:endParaRPr lang="en-US" sz="2400" dirty="0"/>
          </a:p>
        </p:txBody>
      </p:sp>
      <p:sp>
        <p:nvSpPr>
          <p:cNvPr id="3" name="week_tag_104"/>
          <p:cNvSpPr/>
          <p:nvPr/>
        </p:nvSpPr>
        <p:spPr>
          <a:xfrm>
            <a:off x="7726680" y="301752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week_tag_text_105"/>
          <p:cNvSpPr txBox="1"/>
          <p:nvPr/>
        </p:nvSpPr>
        <p:spPr>
          <a:xfrm>
            <a:off x="7726680" y="3017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WEEK 3</a:t>
            </a:r>
            <a:endParaRPr lang="en-US" sz="1050" dirty="0"/>
          </a:p>
        </p:txBody>
      </p:sp>
      <p:sp>
        <p:nvSpPr>
          <p:cNvPr id="5" name="card_106"/>
          <p:cNvSpPr/>
          <p:nvPr/>
        </p:nvSpPr>
        <p:spPr>
          <a:xfrm>
            <a:off x="365760" y="868680"/>
            <a:ext cx="269748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card_dot_107"/>
          <p:cNvSpPr/>
          <p:nvPr/>
        </p:nvSpPr>
        <p:spPr>
          <a:xfrm>
            <a:off x="493776" y="987552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rd_title_108"/>
          <p:cNvSpPr txBox="1"/>
          <p:nvPr/>
        </p:nvSpPr>
        <p:spPr>
          <a:xfrm>
            <a:off x="749808" y="93268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Done in Week 2</a:t>
            </a:r>
            <a:endParaRPr lang="en-US" sz="1300" dirty="0"/>
          </a:p>
        </p:txBody>
      </p:sp>
      <p:sp>
        <p:nvSpPr>
          <p:cNvPr id="8" name="card_body_109"/>
          <p:cNvSpPr txBox="1"/>
          <p:nvPr/>
        </p:nvSpPr>
        <p:spPr>
          <a:xfrm>
            <a:off x="475488" y="1252728"/>
            <a:ext cx="2496312" cy="187452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✓  ABMIL (UNI, CONCH) for 1a, 1b, 1d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✓  PR cut-off test: no reliable preference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✓  ER-low vs ER-high discordant cases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✓  Attention maps on discordant cases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✓  Fixed CV splits; baselines rerun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✓  UNI access; 1,515 frozen slides encoded</a:t>
            </a:r>
            <a:endParaRPr lang="en-US" sz="1050" dirty="0"/>
          </a:p>
        </p:txBody>
      </p:sp>
      <p:sp>
        <p:nvSpPr>
          <p:cNvPr id="9" name="card_110"/>
          <p:cNvSpPr/>
          <p:nvPr/>
        </p:nvSpPr>
        <p:spPr>
          <a:xfrm>
            <a:off x="3218688" y="868680"/>
            <a:ext cx="269748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card_dot_111"/>
          <p:cNvSpPr/>
          <p:nvPr/>
        </p:nvSpPr>
        <p:spPr>
          <a:xfrm>
            <a:off x="3346704" y="987552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ard_title_112"/>
          <p:cNvSpPr txBox="1"/>
          <p:nvPr/>
        </p:nvSpPr>
        <p:spPr>
          <a:xfrm>
            <a:off x="3602736" y="93268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Next experiments</a:t>
            </a:r>
            <a:endParaRPr lang="en-US" sz="1300" dirty="0"/>
          </a:p>
        </p:txBody>
      </p:sp>
      <p:sp>
        <p:nvSpPr>
          <p:cNvPr id="12" name="card_body_113"/>
          <p:cNvSpPr txBox="1"/>
          <p:nvPr/>
        </p:nvSpPr>
        <p:spPr>
          <a:xfrm>
            <a:off x="3328416" y="1252728"/>
            <a:ext cx="2496312" cy="187452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1c: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FFPE vs frozen × IHC vs RNA label; interaction test; % tumour cells as covariate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1e: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TS vs BS agreement on 373 pairs (ICC, κ, % flipped calls)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Statistics: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DeLong tests for 1a; combined 1b evidence across encoders</a:t>
            </a:r>
            <a:endParaRPr lang="en-US" sz="1050" dirty="0"/>
          </a:p>
        </p:txBody>
      </p:sp>
      <p:sp>
        <p:nvSpPr>
          <p:cNvPr id="13" name="card_114"/>
          <p:cNvSpPr/>
          <p:nvPr/>
        </p:nvSpPr>
        <p:spPr>
          <a:xfrm>
            <a:off x="6080760" y="868680"/>
            <a:ext cx="269748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card_dot_115"/>
          <p:cNvSpPr/>
          <p:nvPr/>
        </p:nvSpPr>
        <p:spPr>
          <a:xfrm>
            <a:off x="6208776" y="987552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card_title_116"/>
          <p:cNvSpPr txBox="1"/>
          <p:nvPr/>
        </p:nvSpPr>
        <p:spPr>
          <a:xfrm>
            <a:off x="6464808" y="932688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Analysis and logistics</a:t>
            </a:r>
            <a:endParaRPr lang="en-US" sz="1300" dirty="0"/>
          </a:p>
        </p:txBody>
      </p:sp>
      <p:sp>
        <p:nvSpPr>
          <p:cNvPr id="16" name="card_body_117"/>
          <p:cNvSpPr txBox="1"/>
          <p:nvPr/>
        </p:nvSpPr>
        <p:spPr>
          <a:xfrm>
            <a:off x="6190488" y="1252728"/>
            <a:ext cx="2496312" cy="187452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Overlay attention on the real slide images (does it sit on tumour?)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Describe discordant patients: PAM50, % of cells ER-stained, histology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Rerun ABMIL on the fixed splits for one set of final tables</a:t>
            </a:r>
            <a:endParaRPr lang="en-US" sz="1050" dirty="0"/>
          </a:p>
        </p:txBody>
      </p:sp>
      <p:graphicFrame>
        <p:nvGraphicFramePr>
          <p:cNvPr id="9" name="w3_compu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4480" y="3429000"/>
          <a:ext cx="60350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Compute on Ada (11 GB GPUs)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Estimate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Frozen-slide features (1,515 slides)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done, ~15 h on 2–3 GPUs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1c / 1e analyses (linear probes, bootstrap)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&lt; 1 h CPU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ABMIL rerun on fixed splits (UNI + CONCH)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~10 GPU-hours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2803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matoxylin and Eosin">
  <a:themeElements>
    <a:clrScheme name="Hematoxylin and Eosin">
      <a:dk1>
        <a:srgbClr val="1F1A2E"/>
      </a:dk1>
      <a:lt1>
        <a:srgbClr val="FFFFFF"/>
      </a:lt1>
      <a:dk2>
        <a:srgbClr val="3D2B6B"/>
      </a:dk2>
      <a:lt2>
        <a:srgbClr val="F3EEF8"/>
      </a:lt2>
      <a:accent1>
        <a:srgbClr val="3D2B6B"/>
      </a:accent1>
      <a:accent2>
        <a:srgbClr val="C2456E"/>
      </a:accent2>
      <a:accent3>
        <a:srgbClr val="1F8A7E"/>
      </a:accent3>
      <a:accent4>
        <a:srgbClr val="C77C02"/>
      </a:accent4>
      <a:accent5>
        <a:srgbClr val="8C7AA8"/>
      </a:accent5>
      <a:accent6>
        <a:srgbClr val="5F6B7A"/>
      </a:accent6>
      <a:hlink>
        <a:srgbClr val="1F8A7E"/>
      </a:hlink>
      <a:folHlink>
        <a:srgbClr val="8C7AA8"/>
      </a:folHlink>
    </a:clrScheme>
    <a:fontScheme name="Hematoxylin and Eos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Truth Does the Slide See? Week 1 + Week 2 update</dc:title>
  <dc:subject>PptxGenJS Presentation</dc:subject>
  <dc:creator>Aman Uniyal, Aman Srivastava</dc:creator>
  <cp:lastModifiedBy>Aman Uniyal, Aman Srivastava</cp:lastModifiedBy>
  <cp:revision>1</cp:revision>
  <dcterms:created xsi:type="dcterms:W3CDTF">2026-10-18T14:04:59Z</dcterms:created>
  <dcterms:modified xsi:type="dcterms:W3CDTF">2026-10-18T14:04:59Z</dcterms:modified>
</cp:coreProperties>
</file>